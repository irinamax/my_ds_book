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3" r:id="rId5"/>
    <p:sldId id="262" r:id="rId6"/>
    <p:sldId id="260" r:id="rId7"/>
    <p:sldId id="266"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2E46080-0F09-542C-EF7E-6B0935CE2EC5}" v="33" dt="2025-10-09T18:25:43.9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9FC75-969E-C870-B552-BC283E6354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214710C-D314-3D2B-5A7A-8CB64E9540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ADB1FFE-7937-BB99-6DF7-398B810A5C7A}"/>
              </a:ext>
            </a:extLst>
          </p:cNvPr>
          <p:cNvSpPr>
            <a:spLocks noGrp="1"/>
          </p:cNvSpPr>
          <p:nvPr>
            <p:ph type="dt" sz="half" idx="10"/>
          </p:nvPr>
        </p:nvSpPr>
        <p:spPr/>
        <p:txBody>
          <a:bodyPr/>
          <a:lstStyle/>
          <a:p>
            <a:fld id="{C22124DF-FE2B-49BA-86A6-74859E38BBAE}" type="datetimeFigureOut">
              <a:rPr lang="en-US" smtClean="0"/>
              <a:t>11/20/2025</a:t>
            </a:fld>
            <a:endParaRPr lang="en-US"/>
          </a:p>
        </p:txBody>
      </p:sp>
      <p:sp>
        <p:nvSpPr>
          <p:cNvPr id="5" name="Footer Placeholder 4">
            <a:extLst>
              <a:ext uri="{FF2B5EF4-FFF2-40B4-BE49-F238E27FC236}">
                <a16:creationId xmlns:a16="http://schemas.microsoft.com/office/drawing/2014/main" id="{E5BB9733-B341-687C-A48D-BF261DC0CB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CF0BA6-92CC-97CC-D90D-048B96C3599E}"/>
              </a:ext>
            </a:extLst>
          </p:cNvPr>
          <p:cNvSpPr>
            <a:spLocks noGrp="1"/>
          </p:cNvSpPr>
          <p:nvPr>
            <p:ph type="sldNum" sz="quarter" idx="12"/>
          </p:nvPr>
        </p:nvSpPr>
        <p:spPr/>
        <p:txBody>
          <a:bodyPr/>
          <a:lstStyle/>
          <a:p>
            <a:fld id="{2A9BB760-9851-4683-A9E0-4CBC0496EBA1}" type="slidenum">
              <a:rPr lang="en-US" smtClean="0"/>
              <a:t>‹#›</a:t>
            </a:fld>
            <a:endParaRPr lang="en-US"/>
          </a:p>
        </p:txBody>
      </p:sp>
    </p:spTree>
    <p:extLst>
      <p:ext uri="{BB962C8B-B14F-4D97-AF65-F5344CB8AC3E}">
        <p14:creationId xmlns:p14="http://schemas.microsoft.com/office/powerpoint/2010/main" val="19597766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04DE8-B8DE-CE18-9025-A1A244B0ED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96A8B7-E3A0-6E76-7239-4D3845EE0C1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99E583-CC50-8695-D8F7-54621DA73D99}"/>
              </a:ext>
            </a:extLst>
          </p:cNvPr>
          <p:cNvSpPr>
            <a:spLocks noGrp="1"/>
          </p:cNvSpPr>
          <p:nvPr>
            <p:ph type="dt" sz="half" idx="10"/>
          </p:nvPr>
        </p:nvSpPr>
        <p:spPr/>
        <p:txBody>
          <a:bodyPr/>
          <a:lstStyle/>
          <a:p>
            <a:fld id="{C22124DF-FE2B-49BA-86A6-74859E38BBAE}" type="datetimeFigureOut">
              <a:rPr lang="en-US" smtClean="0"/>
              <a:t>11/20/2025</a:t>
            </a:fld>
            <a:endParaRPr lang="en-US"/>
          </a:p>
        </p:txBody>
      </p:sp>
      <p:sp>
        <p:nvSpPr>
          <p:cNvPr id="5" name="Footer Placeholder 4">
            <a:extLst>
              <a:ext uri="{FF2B5EF4-FFF2-40B4-BE49-F238E27FC236}">
                <a16:creationId xmlns:a16="http://schemas.microsoft.com/office/drawing/2014/main" id="{F5BDBAF8-1E63-7D74-7F78-D96D775EBD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96CAA4-3FC0-04F9-23B4-5049D2850C68}"/>
              </a:ext>
            </a:extLst>
          </p:cNvPr>
          <p:cNvSpPr>
            <a:spLocks noGrp="1"/>
          </p:cNvSpPr>
          <p:nvPr>
            <p:ph type="sldNum" sz="quarter" idx="12"/>
          </p:nvPr>
        </p:nvSpPr>
        <p:spPr/>
        <p:txBody>
          <a:bodyPr/>
          <a:lstStyle/>
          <a:p>
            <a:fld id="{2A9BB760-9851-4683-A9E0-4CBC0496EBA1}" type="slidenum">
              <a:rPr lang="en-US" smtClean="0"/>
              <a:t>‹#›</a:t>
            </a:fld>
            <a:endParaRPr lang="en-US"/>
          </a:p>
        </p:txBody>
      </p:sp>
    </p:spTree>
    <p:extLst>
      <p:ext uri="{BB962C8B-B14F-4D97-AF65-F5344CB8AC3E}">
        <p14:creationId xmlns:p14="http://schemas.microsoft.com/office/powerpoint/2010/main" val="31662958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7120A-0CD4-6928-781C-6BEB5A02473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0B4E7E5-AED6-0D49-EB90-BD555E76885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68F519E-52B5-3D26-F022-F6DB0879434C}"/>
              </a:ext>
            </a:extLst>
          </p:cNvPr>
          <p:cNvSpPr>
            <a:spLocks noGrp="1"/>
          </p:cNvSpPr>
          <p:nvPr>
            <p:ph type="dt" sz="half" idx="10"/>
          </p:nvPr>
        </p:nvSpPr>
        <p:spPr/>
        <p:txBody>
          <a:bodyPr/>
          <a:lstStyle/>
          <a:p>
            <a:fld id="{C22124DF-FE2B-49BA-86A6-74859E38BBAE}" type="datetimeFigureOut">
              <a:rPr lang="en-US" smtClean="0"/>
              <a:t>11/20/2025</a:t>
            </a:fld>
            <a:endParaRPr lang="en-US"/>
          </a:p>
        </p:txBody>
      </p:sp>
      <p:sp>
        <p:nvSpPr>
          <p:cNvPr id="5" name="Footer Placeholder 4">
            <a:extLst>
              <a:ext uri="{FF2B5EF4-FFF2-40B4-BE49-F238E27FC236}">
                <a16:creationId xmlns:a16="http://schemas.microsoft.com/office/drawing/2014/main" id="{27A06148-C1FC-0CBB-9673-0CDF5E60D8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574B68-6DC1-46E0-32A4-E6BD4C7BF0F9}"/>
              </a:ext>
            </a:extLst>
          </p:cNvPr>
          <p:cNvSpPr>
            <a:spLocks noGrp="1"/>
          </p:cNvSpPr>
          <p:nvPr>
            <p:ph type="sldNum" sz="quarter" idx="12"/>
          </p:nvPr>
        </p:nvSpPr>
        <p:spPr/>
        <p:txBody>
          <a:bodyPr/>
          <a:lstStyle/>
          <a:p>
            <a:fld id="{2A9BB760-9851-4683-A9E0-4CBC0496EBA1}" type="slidenum">
              <a:rPr lang="en-US" smtClean="0"/>
              <a:t>‹#›</a:t>
            </a:fld>
            <a:endParaRPr lang="en-US"/>
          </a:p>
        </p:txBody>
      </p:sp>
    </p:spTree>
    <p:extLst>
      <p:ext uri="{BB962C8B-B14F-4D97-AF65-F5344CB8AC3E}">
        <p14:creationId xmlns:p14="http://schemas.microsoft.com/office/powerpoint/2010/main" val="2993165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58103-363E-E2DE-BE13-BAE6266982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ABA7F35-811E-4845-1983-050CD50718B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EFC548-F85C-5ACF-8EEE-DDF3B55BDFF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4478460-EF56-1AE8-5303-6796070AE665}"/>
              </a:ext>
            </a:extLst>
          </p:cNvPr>
          <p:cNvSpPr>
            <a:spLocks noGrp="1"/>
          </p:cNvSpPr>
          <p:nvPr>
            <p:ph type="dt" sz="half" idx="10"/>
          </p:nvPr>
        </p:nvSpPr>
        <p:spPr/>
        <p:txBody>
          <a:bodyPr/>
          <a:lstStyle/>
          <a:p>
            <a:fld id="{C22124DF-FE2B-49BA-86A6-74859E38BBAE}" type="datetimeFigureOut">
              <a:rPr lang="en-US" smtClean="0"/>
              <a:t>11/20/2025</a:t>
            </a:fld>
            <a:endParaRPr lang="en-US"/>
          </a:p>
        </p:txBody>
      </p:sp>
      <p:sp>
        <p:nvSpPr>
          <p:cNvPr id="6" name="Footer Placeholder 5">
            <a:extLst>
              <a:ext uri="{FF2B5EF4-FFF2-40B4-BE49-F238E27FC236}">
                <a16:creationId xmlns:a16="http://schemas.microsoft.com/office/drawing/2014/main" id="{311333FE-EA97-64DF-D054-BE63714CB9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4C4F85-6402-6827-C055-31287C859729}"/>
              </a:ext>
            </a:extLst>
          </p:cNvPr>
          <p:cNvSpPr>
            <a:spLocks noGrp="1"/>
          </p:cNvSpPr>
          <p:nvPr>
            <p:ph type="sldNum" sz="quarter" idx="12"/>
          </p:nvPr>
        </p:nvSpPr>
        <p:spPr/>
        <p:txBody>
          <a:bodyPr/>
          <a:lstStyle/>
          <a:p>
            <a:fld id="{2A9BB760-9851-4683-A9E0-4CBC0496EBA1}" type="slidenum">
              <a:rPr lang="en-US" smtClean="0"/>
              <a:t>‹#›</a:t>
            </a:fld>
            <a:endParaRPr lang="en-US"/>
          </a:p>
        </p:txBody>
      </p:sp>
    </p:spTree>
    <p:extLst>
      <p:ext uri="{BB962C8B-B14F-4D97-AF65-F5344CB8AC3E}">
        <p14:creationId xmlns:p14="http://schemas.microsoft.com/office/powerpoint/2010/main" val="1759480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7B9C3-42DD-48BE-F8FF-6EC69F7DEB8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DDFEB70-E8CD-2218-E421-AD3058FA5D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2815A1-1252-1A1B-85E7-D7BFD3929DF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CEA957D-3E6D-6511-6578-553AB8684C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F79DF51-9527-7EC8-DC42-A0219178438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FF7818C-E19B-D1DF-354E-73B14BF133FB}"/>
              </a:ext>
            </a:extLst>
          </p:cNvPr>
          <p:cNvSpPr>
            <a:spLocks noGrp="1"/>
          </p:cNvSpPr>
          <p:nvPr>
            <p:ph type="dt" sz="half" idx="10"/>
          </p:nvPr>
        </p:nvSpPr>
        <p:spPr/>
        <p:txBody>
          <a:bodyPr/>
          <a:lstStyle/>
          <a:p>
            <a:fld id="{C22124DF-FE2B-49BA-86A6-74859E38BBAE}" type="datetimeFigureOut">
              <a:rPr lang="en-US" smtClean="0"/>
              <a:t>11/20/2025</a:t>
            </a:fld>
            <a:endParaRPr lang="en-US"/>
          </a:p>
        </p:txBody>
      </p:sp>
      <p:sp>
        <p:nvSpPr>
          <p:cNvPr id="8" name="Footer Placeholder 7">
            <a:extLst>
              <a:ext uri="{FF2B5EF4-FFF2-40B4-BE49-F238E27FC236}">
                <a16:creationId xmlns:a16="http://schemas.microsoft.com/office/drawing/2014/main" id="{5C539EF6-6F5F-5476-9BCD-F13847DB513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027ECC3-9F45-34C4-3E7C-9095675BEB83}"/>
              </a:ext>
            </a:extLst>
          </p:cNvPr>
          <p:cNvSpPr>
            <a:spLocks noGrp="1"/>
          </p:cNvSpPr>
          <p:nvPr>
            <p:ph type="sldNum" sz="quarter" idx="12"/>
          </p:nvPr>
        </p:nvSpPr>
        <p:spPr/>
        <p:txBody>
          <a:bodyPr/>
          <a:lstStyle/>
          <a:p>
            <a:fld id="{2A9BB760-9851-4683-A9E0-4CBC0496EBA1}" type="slidenum">
              <a:rPr lang="en-US" smtClean="0"/>
              <a:t>‹#›</a:t>
            </a:fld>
            <a:endParaRPr lang="en-US"/>
          </a:p>
        </p:txBody>
      </p:sp>
    </p:spTree>
    <p:extLst>
      <p:ext uri="{BB962C8B-B14F-4D97-AF65-F5344CB8AC3E}">
        <p14:creationId xmlns:p14="http://schemas.microsoft.com/office/powerpoint/2010/main" val="33198415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7FA0-3DCE-334D-4237-A77B1BE7D0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4EBBABD-BF2F-5173-0000-5CB475B7F67A}"/>
              </a:ext>
            </a:extLst>
          </p:cNvPr>
          <p:cNvSpPr>
            <a:spLocks noGrp="1"/>
          </p:cNvSpPr>
          <p:nvPr>
            <p:ph type="dt" sz="half" idx="10"/>
          </p:nvPr>
        </p:nvSpPr>
        <p:spPr/>
        <p:txBody>
          <a:bodyPr/>
          <a:lstStyle/>
          <a:p>
            <a:fld id="{C22124DF-FE2B-49BA-86A6-74859E38BBAE}" type="datetimeFigureOut">
              <a:rPr lang="en-US" smtClean="0"/>
              <a:t>11/20/2025</a:t>
            </a:fld>
            <a:endParaRPr lang="en-US"/>
          </a:p>
        </p:txBody>
      </p:sp>
      <p:sp>
        <p:nvSpPr>
          <p:cNvPr id="4" name="Footer Placeholder 3">
            <a:extLst>
              <a:ext uri="{FF2B5EF4-FFF2-40B4-BE49-F238E27FC236}">
                <a16:creationId xmlns:a16="http://schemas.microsoft.com/office/drawing/2014/main" id="{F2B6DA62-A414-6C52-79A8-51445704B32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B8D4C5F-3D07-1CC0-B047-FA067D9E6437}"/>
              </a:ext>
            </a:extLst>
          </p:cNvPr>
          <p:cNvSpPr>
            <a:spLocks noGrp="1"/>
          </p:cNvSpPr>
          <p:nvPr>
            <p:ph type="sldNum" sz="quarter" idx="12"/>
          </p:nvPr>
        </p:nvSpPr>
        <p:spPr/>
        <p:txBody>
          <a:bodyPr/>
          <a:lstStyle/>
          <a:p>
            <a:fld id="{2A9BB760-9851-4683-A9E0-4CBC0496EBA1}" type="slidenum">
              <a:rPr lang="en-US" smtClean="0"/>
              <a:t>‹#›</a:t>
            </a:fld>
            <a:endParaRPr lang="en-US"/>
          </a:p>
        </p:txBody>
      </p:sp>
    </p:spTree>
    <p:extLst>
      <p:ext uri="{BB962C8B-B14F-4D97-AF65-F5344CB8AC3E}">
        <p14:creationId xmlns:p14="http://schemas.microsoft.com/office/powerpoint/2010/main" val="11810635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B20860-10EE-C275-3C8B-B269A2ABD19A}"/>
              </a:ext>
            </a:extLst>
          </p:cNvPr>
          <p:cNvSpPr>
            <a:spLocks noGrp="1"/>
          </p:cNvSpPr>
          <p:nvPr>
            <p:ph type="dt" sz="half" idx="10"/>
          </p:nvPr>
        </p:nvSpPr>
        <p:spPr/>
        <p:txBody>
          <a:bodyPr/>
          <a:lstStyle/>
          <a:p>
            <a:fld id="{C22124DF-FE2B-49BA-86A6-74859E38BBAE}" type="datetimeFigureOut">
              <a:rPr lang="en-US" smtClean="0"/>
              <a:t>11/20/2025</a:t>
            </a:fld>
            <a:endParaRPr lang="en-US"/>
          </a:p>
        </p:txBody>
      </p:sp>
      <p:sp>
        <p:nvSpPr>
          <p:cNvPr id="3" name="Footer Placeholder 2">
            <a:extLst>
              <a:ext uri="{FF2B5EF4-FFF2-40B4-BE49-F238E27FC236}">
                <a16:creationId xmlns:a16="http://schemas.microsoft.com/office/drawing/2014/main" id="{C4DDDDFA-DC3F-EE0C-2742-3B5664FD239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704BE24-5488-56C4-02E6-F1BE1168C6D4}"/>
              </a:ext>
            </a:extLst>
          </p:cNvPr>
          <p:cNvSpPr>
            <a:spLocks noGrp="1"/>
          </p:cNvSpPr>
          <p:nvPr>
            <p:ph type="sldNum" sz="quarter" idx="12"/>
          </p:nvPr>
        </p:nvSpPr>
        <p:spPr/>
        <p:txBody>
          <a:bodyPr/>
          <a:lstStyle/>
          <a:p>
            <a:fld id="{2A9BB760-9851-4683-A9E0-4CBC0496EBA1}" type="slidenum">
              <a:rPr lang="en-US" smtClean="0"/>
              <a:t>‹#›</a:t>
            </a:fld>
            <a:endParaRPr lang="en-US"/>
          </a:p>
        </p:txBody>
      </p:sp>
    </p:spTree>
    <p:extLst>
      <p:ext uri="{BB962C8B-B14F-4D97-AF65-F5344CB8AC3E}">
        <p14:creationId xmlns:p14="http://schemas.microsoft.com/office/powerpoint/2010/main" val="520972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A3683-837B-5D83-F285-1405639971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1E22D76-E94E-09B6-060A-EAA4D00A2C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B22DEC8-A91A-7623-9DAF-47BFDBB59D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3FFB89-DB8F-CCEB-08BD-6AEBA72DE326}"/>
              </a:ext>
            </a:extLst>
          </p:cNvPr>
          <p:cNvSpPr>
            <a:spLocks noGrp="1"/>
          </p:cNvSpPr>
          <p:nvPr>
            <p:ph type="dt" sz="half" idx="10"/>
          </p:nvPr>
        </p:nvSpPr>
        <p:spPr/>
        <p:txBody>
          <a:bodyPr/>
          <a:lstStyle/>
          <a:p>
            <a:fld id="{C22124DF-FE2B-49BA-86A6-74859E38BBAE}" type="datetimeFigureOut">
              <a:rPr lang="en-US" smtClean="0"/>
              <a:t>11/20/2025</a:t>
            </a:fld>
            <a:endParaRPr lang="en-US"/>
          </a:p>
        </p:txBody>
      </p:sp>
      <p:sp>
        <p:nvSpPr>
          <p:cNvPr id="6" name="Footer Placeholder 5">
            <a:extLst>
              <a:ext uri="{FF2B5EF4-FFF2-40B4-BE49-F238E27FC236}">
                <a16:creationId xmlns:a16="http://schemas.microsoft.com/office/drawing/2014/main" id="{ED01EAF9-451D-DA5F-77BC-7718AE2B80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52B398-AC2B-33D0-9078-3A4B7A946CF5}"/>
              </a:ext>
            </a:extLst>
          </p:cNvPr>
          <p:cNvSpPr>
            <a:spLocks noGrp="1"/>
          </p:cNvSpPr>
          <p:nvPr>
            <p:ph type="sldNum" sz="quarter" idx="12"/>
          </p:nvPr>
        </p:nvSpPr>
        <p:spPr/>
        <p:txBody>
          <a:bodyPr/>
          <a:lstStyle/>
          <a:p>
            <a:fld id="{2A9BB760-9851-4683-A9E0-4CBC0496EBA1}" type="slidenum">
              <a:rPr lang="en-US" smtClean="0"/>
              <a:t>‹#›</a:t>
            </a:fld>
            <a:endParaRPr lang="en-US"/>
          </a:p>
        </p:txBody>
      </p:sp>
    </p:spTree>
    <p:extLst>
      <p:ext uri="{BB962C8B-B14F-4D97-AF65-F5344CB8AC3E}">
        <p14:creationId xmlns:p14="http://schemas.microsoft.com/office/powerpoint/2010/main" val="3402485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07377-DCAC-9D8B-81DB-83D3C00C76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398DE4D-D808-5BEB-2616-0C7C336717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56D6F3C-59BD-EBC6-5FC1-B529DB2D7C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8A3015-FADB-F3AF-2DBF-0F6BDC86532B}"/>
              </a:ext>
            </a:extLst>
          </p:cNvPr>
          <p:cNvSpPr>
            <a:spLocks noGrp="1"/>
          </p:cNvSpPr>
          <p:nvPr>
            <p:ph type="dt" sz="half" idx="10"/>
          </p:nvPr>
        </p:nvSpPr>
        <p:spPr/>
        <p:txBody>
          <a:bodyPr/>
          <a:lstStyle/>
          <a:p>
            <a:fld id="{C22124DF-FE2B-49BA-86A6-74859E38BBAE}" type="datetimeFigureOut">
              <a:rPr lang="en-US" smtClean="0"/>
              <a:t>11/20/2025</a:t>
            </a:fld>
            <a:endParaRPr lang="en-US"/>
          </a:p>
        </p:txBody>
      </p:sp>
      <p:sp>
        <p:nvSpPr>
          <p:cNvPr id="6" name="Footer Placeholder 5">
            <a:extLst>
              <a:ext uri="{FF2B5EF4-FFF2-40B4-BE49-F238E27FC236}">
                <a16:creationId xmlns:a16="http://schemas.microsoft.com/office/drawing/2014/main" id="{73081B8F-1498-A232-4D9D-82A4638A7C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0C315D-2924-1CA6-04B2-D12E3DC63EC3}"/>
              </a:ext>
            </a:extLst>
          </p:cNvPr>
          <p:cNvSpPr>
            <a:spLocks noGrp="1"/>
          </p:cNvSpPr>
          <p:nvPr>
            <p:ph type="sldNum" sz="quarter" idx="12"/>
          </p:nvPr>
        </p:nvSpPr>
        <p:spPr/>
        <p:txBody>
          <a:bodyPr/>
          <a:lstStyle/>
          <a:p>
            <a:fld id="{2A9BB760-9851-4683-A9E0-4CBC0496EBA1}" type="slidenum">
              <a:rPr lang="en-US" smtClean="0"/>
              <a:t>‹#›</a:t>
            </a:fld>
            <a:endParaRPr lang="en-US"/>
          </a:p>
        </p:txBody>
      </p:sp>
    </p:spTree>
    <p:extLst>
      <p:ext uri="{BB962C8B-B14F-4D97-AF65-F5344CB8AC3E}">
        <p14:creationId xmlns:p14="http://schemas.microsoft.com/office/powerpoint/2010/main" val="35371983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2E895-7C7B-67F9-AEBA-D6BB66C53C0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AD498E7-1E99-EF5B-56B2-2627E0BF0E3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223C75-840F-0188-FE4B-0992FAE1D1E3}"/>
              </a:ext>
            </a:extLst>
          </p:cNvPr>
          <p:cNvSpPr>
            <a:spLocks noGrp="1"/>
          </p:cNvSpPr>
          <p:nvPr>
            <p:ph type="dt" sz="half" idx="10"/>
          </p:nvPr>
        </p:nvSpPr>
        <p:spPr/>
        <p:txBody>
          <a:bodyPr/>
          <a:lstStyle/>
          <a:p>
            <a:fld id="{C22124DF-FE2B-49BA-86A6-74859E38BBAE}" type="datetimeFigureOut">
              <a:rPr lang="en-US" smtClean="0"/>
              <a:t>11/20/2025</a:t>
            </a:fld>
            <a:endParaRPr lang="en-US"/>
          </a:p>
        </p:txBody>
      </p:sp>
      <p:sp>
        <p:nvSpPr>
          <p:cNvPr id="5" name="Footer Placeholder 4">
            <a:extLst>
              <a:ext uri="{FF2B5EF4-FFF2-40B4-BE49-F238E27FC236}">
                <a16:creationId xmlns:a16="http://schemas.microsoft.com/office/drawing/2014/main" id="{DE80E89F-EDE0-5FA5-425F-9EFD1F1CB9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7AADCD-A5A6-D031-FBB7-35E338AD8C8A}"/>
              </a:ext>
            </a:extLst>
          </p:cNvPr>
          <p:cNvSpPr>
            <a:spLocks noGrp="1"/>
          </p:cNvSpPr>
          <p:nvPr>
            <p:ph type="sldNum" sz="quarter" idx="12"/>
          </p:nvPr>
        </p:nvSpPr>
        <p:spPr/>
        <p:txBody>
          <a:bodyPr/>
          <a:lstStyle/>
          <a:p>
            <a:fld id="{2A9BB760-9851-4683-A9E0-4CBC0496EBA1}" type="slidenum">
              <a:rPr lang="en-US" smtClean="0"/>
              <a:t>‹#›</a:t>
            </a:fld>
            <a:endParaRPr lang="en-US"/>
          </a:p>
        </p:txBody>
      </p:sp>
    </p:spTree>
    <p:extLst>
      <p:ext uri="{BB962C8B-B14F-4D97-AF65-F5344CB8AC3E}">
        <p14:creationId xmlns:p14="http://schemas.microsoft.com/office/powerpoint/2010/main" val="11091435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D854C2-BDD0-B707-66EB-C910850F45F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0D53A1E-24CB-1AE4-5197-BE344F9D43D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3D5518-BC7E-5C5E-69AB-ED290C146486}"/>
              </a:ext>
            </a:extLst>
          </p:cNvPr>
          <p:cNvSpPr>
            <a:spLocks noGrp="1"/>
          </p:cNvSpPr>
          <p:nvPr>
            <p:ph type="dt" sz="half" idx="10"/>
          </p:nvPr>
        </p:nvSpPr>
        <p:spPr/>
        <p:txBody>
          <a:bodyPr/>
          <a:lstStyle/>
          <a:p>
            <a:fld id="{C22124DF-FE2B-49BA-86A6-74859E38BBAE}" type="datetimeFigureOut">
              <a:rPr lang="en-US" smtClean="0"/>
              <a:t>11/20/2025</a:t>
            </a:fld>
            <a:endParaRPr lang="en-US"/>
          </a:p>
        </p:txBody>
      </p:sp>
      <p:sp>
        <p:nvSpPr>
          <p:cNvPr id="5" name="Footer Placeholder 4">
            <a:extLst>
              <a:ext uri="{FF2B5EF4-FFF2-40B4-BE49-F238E27FC236}">
                <a16:creationId xmlns:a16="http://schemas.microsoft.com/office/drawing/2014/main" id="{1F6A8A8B-814F-0E0F-337C-D1F3095AB7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1235FC-56D3-1F24-0EF5-B3843D311FFE}"/>
              </a:ext>
            </a:extLst>
          </p:cNvPr>
          <p:cNvSpPr>
            <a:spLocks noGrp="1"/>
          </p:cNvSpPr>
          <p:nvPr>
            <p:ph type="sldNum" sz="quarter" idx="12"/>
          </p:nvPr>
        </p:nvSpPr>
        <p:spPr/>
        <p:txBody>
          <a:bodyPr/>
          <a:lstStyle/>
          <a:p>
            <a:fld id="{2A9BB760-9851-4683-A9E0-4CBC0496EBA1}" type="slidenum">
              <a:rPr lang="en-US" smtClean="0"/>
              <a:t>‹#›</a:t>
            </a:fld>
            <a:endParaRPr lang="en-US"/>
          </a:p>
        </p:txBody>
      </p:sp>
    </p:spTree>
    <p:extLst>
      <p:ext uri="{BB962C8B-B14F-4D97-AF65-F5344CB8AC3E}">
        <p14:creationId xmlns:p14="http://schemas.microsoft.com/office/powerpoint/2010/main" val="33988172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E9E5D2-0E81-68C6-E122-665DE09CC7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3395B6-C708-10EF-6051-5BB806243B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5A0515-1BF4-2955-431D-989B11C99E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22124DF-FE2B-49BA-86A6-74859E38BBAE}" type="datetimeFigureOut">
              <a:rPr lang="en-US" smtClean="0"/>
              <a:t>11/20/2025</a:t>
            </a:fld>
            <a:endParaRPr lang="en-US"/>
          </a:p>
        </p:txBody>
      </p:sp>
      <p:sp>
        <p:nvSpPr>
          <p:cNvPr id="5" name="Footer Placeholder 4">
            <a:extLst>
              <a:ext uri="{FF2B5EF4-FFF2-40B4-BE49-F238E27FC236}">
                <a16:creationId xmlns:a16="http://schemas.microsoft.com/office/drawing/2014/main" id="{337809DF-80A8-1A38-1547-8AF1CFC0D0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BB301D2-23E9-23E1-B40F-4F7FB192A9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A9BB760-9851-4683-A9E0-4CBC0496EBA1}" type="slidenum">
              <a:rPr lang="en-US" smtClean="0"/>
              <a:t>‹#›</a:t>
            </a:fld>
            <a:endParaRPr lang="en-US"/>
          </a:p>
        </p:txBody>
      </p:sp>
    </p:spTree>
    <p:extLst>
      <p:ext uri="{BB962C8B-B14F-4D97-AF65-F5344CB8AC3E}">
        <p14:creationId xmlns:p14="http://schemas.microsoft.com/office/powerpoint/2010/main" val="40552187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google.com/search?safe=active&amp;sca_esv=e133efb347e6c9df&amp;rlz=1C1GCGW_enUS1178US1179&amp;cs=0&amp;q=Masks+Minority+Class+Failures&amp;sa=X&amp;ved=2ahUKEwimndHVr4iQAxU6DzQIHadAKkgQxccNegQIIRAD&amp;mstk=AUtExfDIBzqfoJ-DYJw_4RFXjYpL7ok5EsPlCspISXWCR9encUcsggRl9JOsMQS7zC5NhBolK8wFqLEf5Fm3VvE6eaDT49kDIjsxT24qr-jN5dR-w4X8JZQ9AHdfvmsL5s2KQwI&amp;csui=3" TargetMode="External"/><Relationship Id="rId2" Type="http://schemas.openxmlformats.org/officeDocument/2006/relationships/hyperlink" Target="https://www.google.com/search?safe=active&amp;sca_esv=e133efb347e6c9df&amp;rlz=1C1GCGW_enUS1178US1179&amp;cs=0&amp;q=Majority+Class+Bias&amp;sa=X&amp;ved=2ahUKEwimndHVr4iQAxU6DzQIHadAKkgQxccNegQIERAD&amp;mstk=AUtExfDIBzqfoJ-DYJw_4RFXjYpL7ok5EsPlCspISXWCR9encUcsggRl9JOsMQS7zC5NhBolK8wFqLEf5Fm3VvE6eaDT49kDIjsxT24qr-jN5dR-w4X8JZQ9AHdfvmsL5s2KQwI&amp;csui=3" TargetMode="External"/><Relationship Id="rId1" Type="http://schemas.openxmlformats.org/officeDocument/2006/relationships/slideLayout" Target="../slideLayouts/slideLayout2.xml"/><Relationship Id="rId4" Type="http://schemas.openxmlformats.org/officeDocument/2006/relationships/hyperlink" Target="https://www.google.com/search?safe=active&amp;sca_esv=e133efb347e6c9df&amp;rlz=1C1GCGW_enUS1178US1179&amp;cs=0&amp;q=Application-Dependent+Importance&amp;sa=X&amp;ved=2ahUKEwimndHVr4iQAxU6DzQIHadAKkgQxccNegQIIBAD&amp;mstk=AUtExfDIBzqfoJ-DYJw_4RFXjYpL7ok5EsPlCspISXWCR9encUcsggRl9JOsMQS7zC5NhBolK8wFqLEf5Fm3VvE6eaDT49kDIjsxT24qr-jN5dR-w4X8JZQ9AHdfvmsL5s2KQwI&amp;csui=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771A2-19ED-BF0B-D4E6-9CB3373B6430}"/>
              </a:ext>
            </a:extLst>
          </p:cNvPr>
          <p:cNvSpPr>
            <a:spLocks noGrp="1"/>
          </p:cNvSpPr>
          <p:nvPr>
            <p:ph type="ctrTitle"/>
          </p:nvPr>
        </p:nvSpPr>
        <p:spPr/>
        <p:txBody>
          <a:bodyPr/>
          <a:lstStyle/>
          <a:p>
            <a:r>
              <a:rPr lang="en-US"/>
              <a:t>Best Practice in Evaluation of Data Science model</a:t>
            </a:r>
          </a:p>
        </p:txBody>
      </p:sp>
      <p:sp>
        <p:nvSpPr>
          <p:cNvPr id="3" name="Subtitle 2">
            <a:extLst>
              <a:ext uri="{FF2B5EF4-FFF2-40B4-BE49-F238E27FC236}">
                <a16:creationId xmlns:a16="http://schemas.microsoft.com/office/drawing/2014/main" id="{77D8924A-8D80-D32F-54F1-9327A156B6E6}"/>
              </a:ext>
            </a:extLst>
          </p:cNvPr>
          <p:cNvSpPr>
            <a:spLocks noGrp="1"/>
          </p:cNvSpPr>
          <p:nvPr>
            <p:ph type="subTitle" idx="1"/>
          </p:nvPr>
        </p:nvSpPr>
        <p:spPr/>
        <p:txBody>
          <a:bodyPr vert="horz" lIns="91440" tIns="45720" rIns="91440" bIns="45720" rtlCol="0" anchor="t">
            <a:normAutofit lnSpcReduction="10000"/>
          </a:bodyPr>
          <a:lstStyle/>
          <a:p>
            <a:endParaRPr lang="en-US" dirty="0"/>
          </a:p>
          <a:p>
            <a:r>
              <a:rPr lang="en-US" dirty="0"/>
              <a:t>Author: Irina Max</a:t>
            </a:r>
            <a:br>
              <a:rPr lang="en-US" dirty="0"/>
            </a:br>
            <a:r>
              <a:rPr lang="en-US" dirty="0"/>
              <a:t>Sr. Principal Data Scientist </a:t>
            </a:r>
          </a:p>
          <a:p>
            <a:r>
              <a:rPr lang="en-US" dirty="0"/>
              <a:t>October 1, 2025</a:t>
            </a:r>
          </a:p>
        </p:txBody>
      </p:sp>
    </p:spTree>
    <p:extLst>
      <p:ext uri="{BB962C8B-B14F-4D97-AF65-F5344CB8AC3E}">
        <p14:creationId xmlns:p14="http://schemas.microsoft.com/office/powerpoint/2010/main" val="12815652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D2B6F-AAA3-66B1-9343-6CCCBDCDA18B}"/>
              </a:ext>
            </a:extLst>
          </p:cNvPr>
          <p:cNvSpPr>
            <a:spLocks noGrp="1"/>
          </p:cNvSpPr>
          <p:nvPr>
            <p:ph type="title"/>
          </p:nvPr>
        </p:nvSpPr>
        <p:spPr>
          <a:xfrm>
            <a:off x="450850" y="198565"/>
            <a:ext cx="10499090" cy="594202"/>
          </a:xfrm>
        </p:spPr>
        <p:txBody>
          <a:bodyPr>
            <a:normAutofit/>
          </a:bodyPr>
          <a:lstStyle/>
          <a:p>
            <a:r>
              <a:rPr lang="en-US" sz="2000"/>
              <a:t>How to choose Evaluation metrics: is your model is good ?</a:t>
            </a:r>
          </a:p>
        </p:txBody>
      </p:sp>
      <p:sp>
        <p:nvSpPr>
          <p:cNvPr id="21" name="Flowchart: Process 20">
            <a:extLst>
              <a:ext uri="{FF2B5EF4-FFF2-40B4-BE49-F238E27FC236}">
                <a16:creationId xmlns:a16="http://schemas.microsoft.com/office/drawing/2014/main" id="{1E1BEEDB-DB6C-45FE-2F41-66E1E25D048C}"/>
              </a:ext>
            </a:extLst>
          </p:cNvPr>
          <p:cNvSpPr/>
          <p:nvPr/>
        </p:nvSpPr>
        <p:spPr>
          <a:xfrm>
            <a:off x="1649730" y="2151046"/>
            <a:ext cx="3695700" cy="612648"/>
          </a:xfrm>
          <a:prstGeom prst="flowChart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a:t>Supervised</a:t>
            </a:r>
          </a:p>
        </p:txBody>
      </p:sp>
      <p:sp>
        <p:nvSpPr>
          <p:cNvPr id="30" name="Flowchart: Process 29">
            <a:extLst>
              <a:ext uri="{FF2B5EF4-FFF2-40B4-BE49-F238E27FC236}">
                <a16:creationId xmlns:a16="http://schemas.microsoft.com/office/drawing/2014/main" id="{C8B24344-F615-7EB0-364C-640971AA1272}"/>
              </a:ext>
            </a:extLst>
          </p:cNvPr>
          <p:cNvSpPr/>
          <p:nvPr/>
        </p:nvSpPr>
        <p:spPr>
          <a:xfrm>
            <a:off x="6492240" y="3322034"/>
            <a:ext cx="2133600" cy="2743200"/>
          </a:xfrm>
          <a:prstGeom prst="flowChart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a:t>Clustering</a:t>
            </a:r>
          </a:p>
          <a:p>
            <a:pPr marL="342900" indent="-342900" algn="just">
              <a:buAutoNum type="arabicPeriod"/>
            </a:pPr>
            <a:r>
              <a:rPr lang="en-US" sz="1600"/>
              <a:t>Adjusted Rand index</a:t>
            </a:r>
          </a:p>
          <a:p>
            <a:pPr marL="342900" indent="-342900" algn="just">
              <a:buAutoNum type="arabicPeriod"/>
            </a:pPr>
            <a:r>
              <a:rPr lang="en-US" sz="1600"/>
              <a:t>Adjusted Mutual information</a:t>
            </a:r>
          </a:p>
          <a:p>
            <a:pPr marL="342900" indent="-342900" algn="just">
              <a:buAutoNum type="arabicPeriod"/>
            </a:pPr>
            <a:r>
              <a:rPr lang="en-US" sz="1600"/>
              <a:t>Silhouette index</a:t>
            </a:r>
          </a:p>
        </p:txBody>
      </p:sp>
      <p:sp>
        <p:nvSpPr>
          <p:cNvPr id="31" name="Flowchart: Process 30">
            <a:extLst>
              <a:ext uri="{FF2B5EF4-FFF2-40B4-BE49-F238E27FC236}">
                <a16:creationId xmlns:a16="http://schemas.microsoft.com/office/drawing/2014/main" id="{53ADB7BC-0B85-4AAD-12D5-C451945FEE35}"/>
              </a:ext>
            </a:extLst>
          </p:cNvPr>
          <p:cNvSpPr/>
          <p:nvPr/>
        </p:nvSpPr>
        <p:spPr>
          <a:xfrm>
            <a:off x="3596640" y="3352228"/>
            <a:ext cx="2392680" cy="2682812"/>
          </a:xfrm>
          <a:prstGeom prst="flowChart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a:t>Classifications</a:t>
            </a:r>
          </a:p>
          <a:p>
            <a:pPr marL="342900" indent="-342900" algn="just">
              <a:buAutoNum type="arabicPeriod"/>
            </a:pPr>
            <a:r>
              <a:rPr lang="en-US" sz="1600"/>
              <a:t>Accuracy</a:t>
            </a:r>
          </a:p>
          <a:p>
            <a:pPr marL="342900" indent="-342900" algn="just">
              <a:buAutoNum type="arabicPeriod"/>
            </a:pPr>
            <a:r>
              <a:rPr lang="en-US" sz="1600"/>
              <a:t> AUROC</a:t>
            </a:r>
          </a:p>
          <a:p>
            <a:pPr marL="342900" indent="-342900" algn="just">
              <a:buAutoNum type="arabicPeriod"/>
            </a:pPr>
            <a:r>
              <a:rPr lang="en-US" sz="1600"/>
              <a:t> F1</a:t>
            </a:r>
          </a:p>
          <a:p>
            <a:pPr marL="342900" indent="-342900" algn="just">
              <a:buAutoNum type="arabicPeriod"/>
            </a:pPr>
            <a:r>
              <a:rPr lang="en-US" sz="1600"/>
              <a:t> Precision</a:t>
            </a:r>
          </a:p>
          <a:p>
            <a:pPr marL="342900" indent="-342900" algn="just">
              <a:buAutoNum type="arabicPeriod"/>
            </a:pPr>
            <a:r>
              <a:rPr lang="en-US" sz="1600"/>
              <a:t> Recall</a:t>
            </a:r>
          </a:p>
          <a:p>
            <a:pPr marL="342900" indent="-342900" algn="just">
              <a:buAutoNum type="arabicPeriod"/>
            </a:pPr>
            <a:r>
              <a:rPr lang="en-US" sz="1600"/>
              <a:t>Specificity</a:t>
            </a:r>
          </a:p>
        </p:txBody>
      </p:sp>
      <p:sp>
        <p:nvSpPr>
          <p:cNvPr id="32" name="Flowchart: Process 31">
            <a:extLst>
              <a:ext uri="{FF2B5EF4-FFF2-40B4-BE49-F238E27FC236}">
                <a16:creationId xmlns:a16="http://schemas.microsoft.com/office/drawing/2014/main" id="{CE29BD31-22F2-A56E-FDEE-8B8B701750F4}"/>
              </a:ext>
            </a:extLst>
          </p:cNvPr>
          <p:cNvSpPr/>
          <p:nvPr/>
        </p:nvSpPr>
        <p:spPr>
          <a:xfrm>
            <a:off x="998220" y="3390614"/>
            <a:ext cx="2095500" cy="2606040"/>
          </a:xfrm>
          <a:prstGeom prst="flowChart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a:t>Regressions</a:t>
            </a:r>
          </a:p>
          <a:p>
            <a:pPr marL="342900" indent="-342900" algn="just">
              <a:buAutoNum type="arabicPeriod"/>
            </a:pPr>
            <a:r>
              <a:rPr lang="en-US" sz="1600"/>
              <a:t>RMSE</a:t>
            </a:r>
          </a:p>
          <a:p>
            <a:pPr marL="342900" indent="-342900" algn="just">
              <a:buAutoNum type="arabicPeriod"/>
            </a:pPr>
            <a:r>
              <a:rPr lang="en-US" sz="1600"/>
              <a:t>MAE/MSE</a:t>
            </a:r>
          </a:p>
          <a:p>
            <a:pPr marL="342900" indent="-342900" algn="just">
              <a:buAutoNum type="arabicPeriod"/>
            </a:pPr>
            <a:r>
              <a:rPr lang="en-US" sz="1600"/>
              <a:t>R-Squired (Adjusted)</a:t>
            </a:r>
          </a:p>
          <a:p>
            <a:pPr marL="342900" indent="-342900" algn="just">
              <a:buAutoNum type="arabicPeriod"/>
            </a:pPr>
            <a:r>
              <a:rPr lang="en-US"/>
              <a:t>AIC</a:t>
            </a:r>
          </a:p>
          <a:p>
            <a:pPr marL="342900" indent="-342900" algn="just">
              <a:buAutoNum type="arabicPeriod"/>
            </a:pPr>
            <a:r>
              <a:rPr lang="en-US"/>
              <a:t>BIC</a:t>
            </a:r>
          </a:p>
        </p:txBody>
      </p:sp>
      <p:cxnSp>
        <p:nvCxnSpPr>
          <p:cNvPr id="41" name="Straight Arrow Connector 40">
            <a:extLst>
              <a:ext uri="{FF2B5EF4-FFF2-40B4-BE49-F238E27FC236}">
                <a16:creationId xmlns:a16="http://schemas.microsoft.com/office/drawing/2014/main" id="{32191784-07CB-02D6-6695-7AFC38312D3E}"/>
              </a:ext>
            </a:extLst>
          </p:cNvPr>
          <p:cNvCxnSpPr>
            <a:cxnSpLocks/>
            <a:endCxn id="32" idx="0"/>
          </p:cNvCxnSpPr>
          <p:nvPr/>
        </p:nvCxnSpPr>
        <p:spPr>
          <a:xfrm flipH="1">
            <a:off x="2045970" y="2733500"/>
            <a:ext cx="1152525" cy="65711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0807E97B-026E-3113-D8A1-BE7CBCEAE8AD}"/>
              </a:ext>
            </a:extLst>
          </p:cNvPr>
          <p:cNvCxnSpPr>
            <a:stCxn id="21" idx="2"/>
            <a:endCxn id="31" idx="0"/>
          </p:cNvCxnSpPr>
          <p:nvPr/>
        </p:nvCxnSpPr>
        <p:spPr>
          <a:xfrm>
            <a:off x="3497580" y="2763694"/>
            <a:ext cx="1295400" cy="5885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38CCAC97-3539-2AC9-4906-17696B1DBFE9}"/>
              </a:ext>
            </a:extLst>
          </p:cNvPr>
          <p:cNvCxnSpPr>
            <a:cxnSpLocks/>
            <a:endCxn id="30" idx="0"/>
          </p:cNvCxnSpPr>
          <p:nvPr/>
        </p:nvCxnSpPr>
        <p:spPr>
          <a:xfrm>
            <a:off x="6934200" y="2763694"/>
            <a:ext cx="624840" cy="5583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0" name="Flowchart: Process 49">
            <a:extLst>
              <a:ext uri="{FF2B5EF4-FFF2-40B4-BE49-F238E27FC236}">
                <a16:creationId xmlns:a16="http://schemas.microsoft.com/office/drawing/2014/main" id="{63D000E8-3CCC-9835-7E75-2BF0887C9097}"/>
              </a:ext>
            </a:extLst>
          </p:cNvPr>
          <p:cNvSpPr/>
          <p:nvPr/>
        </p:nvSpPr>
        <p:spPr>
          <a:xfrm>
            <a:off x="3198495" y="937807"/>
            <a:ext cx="3695700" cy="612648"/>
          </a:xfrm>
          <a:prstGeom prst="flowChart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a:t>Data Science and Machine Learning model evaluation</a:t>
            </a:r>
          </a:p>
        </p:txBody>
      </p:sp>
      <p:sp>
        <p:nvSpPr>
          <p:cNvPr id="53" name="Flowchart: Process 52">
            <a:extLst>
              <a:ext uri="{FF2B5EF4-FFF2-40B4-BE49-F238E27FC236}">
                <a16:creationId xmlns:a16="http://schemas.microsoft.com/office/drawing/2014/main" id="{A7072475-FC06-80AF-F8B8-FCC8025D39FD}"/>
              </a:ext>
            </a:extLst>
          </p:cNvPr>
          <p:cNvSpPr/>
          <p:nvPr/>
        </p:nvSpPr>
        <p:spPr>
          <a:xfrm>
            <a:off x="5490210" y="2151046"/>
            <a:ext cx="2807970" cy="612648"/>
          </a:xfrm>
          <a:prstGeom prst="flowChart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a:t>Unsupervised</a:t>
            </a:r>
          </a:p>
        </p:txBody>
      </p:sp>
      <p:cxnSp>
        <p:nvCxnSpPr>
          <p:cNvPr id="58" name="Straight Arrow Connector 57">
            <a:extLst>
              <a:ext uri="{FF2B5EF4-FFF2-40B4-BE49-F238E27FC236}">
                <a16:creationId xmlns:a16="http://schemas.microsoft.com/office/drawing/2014/main" id="{F3C8E158-213F-C91A-18DA-35CC6ECEE071}"/>
              </a:ext>
            </a:extLst>
          </p:cNvPr>
          <p:cNvCxnSpPr>
            <a:cxnSpLocks/>
          </p:cNvCxnSpPr>
          <p:nvPr/>
        </p:nvCxnSpPr>
        <p:spPr>
          <a:xfrm>
            <a:off x="5806440" y="1562512"/>
            <a:ext cx="685800" cy="56220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1" name="Straight Arrow Connector 60">
            <a:extLst>
              <a:ext uri="{FF2B5EF4-FFF2-40B4-BE49-F238E27FC236}">
                <a16:creationId xmlns:a16="http://schemas.microsoft.com/office/drawing/2014/main" id="{40522A0E-9529-5C9C-A332-653A0C2B9050}"/>
              </a:ext>
            </a:extLst>
          </p:cNvPr>
          <p:cNvCxnSpPr/>
          <p:nvPr/>
        </p:nvCxnSpPr>
        <p:spPr>
          <a:xfrm flipH="1">
            <a:off x="3322320" y="1550455"/>
            <a:ext cx="937260" cy="60059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690724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D7BB6-DA5D-835A-00AA-608FED63D322}"/>
              </a:ext>
            </a:extLst>
          </p:cNvPr>
          <p:cNvSpPr>
            <a:spLocks noGrp="1"/>
          </p:cNvSpPr>
          <p:nvPr>
            <p:ph type="title"/>
          </p:nvPr>
        </p:nvSpPr>
        <p:spPr>
          <a:xfrm>
            <a:off x="943707" y="365125"/>
            <a:ext cx="10410093" cy="809748"/>
          </a:xfrm>
        </p:spPr>
        <p:txBody>
          <a:bodyPr>
            <a:normAutofit/>
          </a:bodyPr>
          <a:lstStyle/>
          <a:p>
            <a:pPr algn="ctr"/>
            <a:r>
              <a:rPr lang="en-US" sz="2800" b="1">
                <a:latin typeface="Aptos"/>
              </a:rPr>
              <a:t>Regression Metrics used for models of continuous value</a:t>
            </a:r>
            <a:endParaRPr lang="en-US" sz="2800" b="1"/>
          </a:p>
        </p:txBody>
      </p:sp>
      <p:sp>
        <p:nvSpPr>
          <p:cNvPr id="3" name="Content Placeholder 2">
            <a:extLst>
              <a:ext uri="{FF2B5EF4-FFF2-40B4-BE49-F238E27FC236}">
                <a16:creationId xmlns:a16="http://schemas.microsoft.com/office/drawing/2014/main" id="{5F0C3D78-ED51-1A6F-EE6A-24A2840237B3}"/>
              </a:ext>
            </a:extLst>
          </p:cNvPr>
          <p:cNvSpPr>
            <a:spLocks noGrp="1"/>
          </p:cNvSpPr>
          <p:nvPr>
            <p:ph idx="1"/>
          </p:nvPr>
        </p:nvSpPr>
        <p:spPr>
          <a:xfrm>
            <a:off x="922866" y="1002964"/>
            <a:ext cx="10430562" cy="5173999"/>
          </a:xfrm>
        </p:spPr>
        <p:txBody>
          <a:bodyPr vert="horz" lIns="91440" tIns="45720" rIns="91440" bIns="45720" rtlCol="0" anchor="t">
            <a:normAutofit/>
          </a:bodyPr>
          <a:lstStyle/>
          <a:p>
            <a:pPr marL="0" indent="0">
              <a:buNone/>
            </a:pPr>
            <a:endParaRPr lang="en-US"/>
          </a:p>
          <a:p>
            <a:r>
              <a:rPr lang="en-US" sz="2600">
                <a:ea typeface="+mn-lt"/>
                <a:cs typeface="+mn-lt"/>
              </a:rPr>
              <a:t>Root Mean Squared Error (RMSE): </a:t>
            </a:r>
            <a:endParaRPr lang="en-US">
              <a:ea typeface="+mn-lt"/>
              <a:cs typeface="+mn-lt"/>
            </a:endParaRPr>
          </a:p>
          <a:p>
            <a:endParaRPr lang="en-US">
              <a:ea typeface="+mn-lt"/>
              <a:cs typeface="+mn-lt"/>
            </a:endParaRPr>
          </a:p>
          <a:p>
            <a:r>
              <a:rPr lang="en-US">
                <a:ea typeface="+mn-lt"/>
                <a:cs typeface="+mn-lt"/>
              </a:rPr>
              <a:t>Mean Absolute Error (MAE): </a:t>
            </a:r>
            <a:endParaRPr lang="en-US"/>
          </a:p>
          <a:p>
            <a:endParaRPr lang="en-US">
              <a:ea typeface="+mn-lt"/>
              <a:cs typeface="+mn-lt"/>
            </a:endParaRPr>
          </a:p>
          <a:p>
            <a:r>
              <a:rPr lang="en-US">
                <a:ea typeface="+mn-lt"/>
                <a:cs typeface="+mn-lt"/>
              </a:rPr>
              <a:t>Mean Squared Error (MSE): </a:t>
            </a:r>
          </a:p>
          <a:p>
            <a:endParaRPr lang="en-US"/>
          </a:p>
          <a:p>
            <a:r>
              <a:rPr lang="en-US">
                <a:ea typeface="+mn-lt"/>
                <a:cs typeface="+mn-lt"/>
              </a:rPr>
              <a:t>R-squared (Coefficient of Determination): </a:t>
            </a:r>
          </a:p>
          <a:p>
            <a:endParaRPr lang="en-US"/>
          </a:p>
          <a:p>
            <a:r>
              <a:rPr lang="en-US"/>
              <a:t>BIC and AIC: Lower the better.</a:t>
            </a:r>
          </a:p>
        </p:txBody>
      </p:sp>
      <p:pic>
        <p:nvPicPr>
          <p:cNvPr id="4" name="Picture 3" descr="A mathematical equation with numbers and symbols&#10;&#10;AI-generated content may be incorrect.">
            <a:extLst>
              <a:ext uri="{FF2B5EF4-FFF2-40B4-BE49-F238E27FC236}">
                <a16:creationId xmlns:a16="http://schemas.microsoft.com/office/drawing/2014/main" id="{C9FCBEC2-11BC-35D8-EE16-4283A40D0C8F}"/>
              </a:ext>
            </a:extLst>
          </p:cNvPr>
          <p:cNvPicPr>
            <a:picLocks noChangeAspect="1"/>
          </p:cNvPicPr>
          <p:nvPr/>
        </p:nvPicPr>
        <p:blipFill>
          <a:blip r:embed="rId2"/>
          <a:stretch>
            <a:fillRect/>
          </a:stretch>
        </p:blipFill>
        <p:spPr>
          <a:xfrm>
            <a:off x="6138409" y="1128184"/>
            <a:ext cx="3531658" cy="1154490"/>
          </a:xfrm>
          <a:prstGeom prst="rect">
            <a:avLst/>
          </a:prstGeom>
        </p:spPr>
      </p:pic>
      <p:pic>
        <p:nvPicPr>
          <p:cNvPr id="5" name="Picture 4" descr="A black and white text&#10;&#10;AI-generated content may be incorrect.">
            <a:extLst>
              <a:ext uri="{FF2B5EF4-FFF2-40B4-BE49-F238E27FC236}">
                <a16:creationId xmlns:a16="http://schemas.microsoft.com/office/drawing/2014/main" id="{18C25F7F-040B-8C05-392E-9132FBF8D4C2}"/>
              </a:ext>
            </a:extLst>
          </p:cNvPr>
          <p:cNvPicPr>
            <a:picLocks noChangeAspect="1"/>
          </p:cNvPicPr>
          <p:nvPr/>
        </p:nvPicPr>
        <p:blipFill>
          <a:blip r:embed="rId3"/>
          <a:stretch>
            <a:fillRect/>
          </a:stretch>
        </p:blipFill>
        <p:spPr>
          <a:xfrm>
            <a:off x="8006444" y="4428295"/>
            <a:ext cx="3049209" cy="952650"/>
          </a:xfrm>
          <a:prstGeom prst="rect">
            <a:avLst/>
          </a:prstGeom>
        </p:spPr>
      </p:pic>
      <p:pic>
        <p:nvPicPr>
          <p:cNvPr id="6" name="Picture 5">
            <a:extLst>
              <a:ext uri="{FF2B5EF4-FFF2-40B4-BE49-F238E27FC236}">
                <a16:creationId xmlns:a16="http://schemas.microsoft.com/office/drawing/2014/main" id="{A25EBB74-2C85-F3AC-0DE0-6DD4AF870C62}"/>
              </a:ext>
            </a:extLst>
          </p:cNvPr>
          <p:cNvPicPr>
            <a:picLocks noChangeAspect="1"/>
          </p:cNvPicPr>
          <p:nvPr/>
        </p:nvPicPr>
        <p:blipFill>
          <a:blip r:embed="rId4"/>
          <a:stretch>
            <a:fillRect/>
          </a:stretch>
        </p:blipFill>
        <p:spPr>
          <a:xfrm>
            <a:off x="5847669" y="2290006"/>
            <a:ext cx="2831042" cy="862844"/>
          </a:xfrm>
          <a:prstGeom prst="rect">
            <a:avLst/>
          </a:prstGeom>
        </p:spPr>
      </p:pic>
      <p:pic>
        <p:nvPicPr>
          <p:cNvPr id="8" name="Picture 7" descr="A black and white math symbols&#10;&#10;AI-generated content may be incorrect.">
            <a:extLst>
              <a:ext uri="{FF2B5EF4-FFF2-40B4-BE49-F238E27FC236}">
                <a16:creationId xmlns:a16="http://schemas.microsoft.com/office/drawing/2014/main" id="{08F80474-BC7F-E0CD-847A-9FEA66C307D4}"/>
              </a:ext>
            </a:extLst>
          </p:cNvPr>
          <p:cNvPicPr>
            <a:picLocks noChangeAspect="1"/>
          </p:cNvPicPr>
          <p:nvPr/>
        </p:nvPicPr>
        <p:blipFill>
          <a:blip r:embed="rId5"/>
          <a:stretch>
            <a:fillRect/>
          </a:stretch>
        </p:blipFill>
        <p:spPr>
          <a:xfrm>
            <a:off x="5845099" y="3318102"/>
            <a:ext cx="3005515" cy="959605"/>
          </a:xfrm>
          <a:prstGeom prst="rect">
            <a:avLst/>
          </a:prstGeom>
        </p:spPr>
      </p:pic>
    </p:spTree>
    <p:extLst>
      <p:ext uri="{BB962C8B-B14F-4D97-AF65-F5344CB8AC3E}">
        <p14:creationId xmlns:p14="http://schemas.microsoft.com/office/powerpoint/2010/main" val="40126635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95783-23A2-F789-C2F7-1DA69F50C5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07F656-CA46-88CD-E09C-49962264D129}"/>
              </a:ext>
            </a:extLst>
          </p:cNvPr>
          <p:cNvSpPr>
            <a:spLocks noGrp="1"/>
          </p:cNvSpPr>
          <p:nvPr>
            <p:ph type="title"/>
          </p:nvPr>
        </p:nvSpPr>
        <p:spPr>
          <a:xfrm>
            <a:off x="943707" y="365125"/>
            <a:ext cx="10410093" cy="809748"/>
          </a:xfrm>
        </p:spPr>
        <p:txBody>
          <a:bodyPr>
            <a:normAutofit/>
          </a:bodyPr>
          <a:lstStyle/>
          <a:p>
            <a:pPr algn="ctr"/>
            <a:r>
              <a:rPr lang="en-US" sz="2800" b="1">
                <a:latin typeface="Aptos"/>
              </a:rPr>
              <a:t>Regression Metrics used for models of continuous value</a:t>
            </a:r>
            <a:endParaRPr lang="en-US" sz="2800" b="1"/>
          </a:p>
        </p:txBody>
      </p:sp>
      <p:sp>
        <p:nvSpPr>
          <p:cNvPr id="3" name="Content Placeholder 2">
            <a:extLst>
              <a:ext uri="{FF2B5EF4-FFF2-40B4-BE49-F238E27FC236}">
                <a16:creationId xmlns:a16="http://schemas.microsoft.com/office/drawing/2014/main" id="{770A4AB1-3D4C-8B10-9EBB-206D3D478E6B}"/>
              </a:ext>
            </a:extLst>
          </p:cNvPr>
          <p:cNvSpPr>
            <a:spLocks noGrp="1"/>
          </p:cNvSpPr>
          <p:nvPr>
            <p:ph idx="1"/>
          </p:nvPr>
        </p:nvSpPr>
        <p:spPr>
          <a:xfrm>
            <a:off x="838200" y="1181546"/>
            <a:ext cx="10527323" cy="4995417"/>
          </a:xfrm>
        </p:spPr>
        <p:txBody>
          <a:bodyPr vert="horz" lIns="91440" tIns="45720" rIns="91440" bIns="45720" rtlCol="0" anchor="t">
            <a:normAutofit fontScale="92500" lnSpcReduction="10000"/>
          </a:bodyPr>
          <a:lstStyle/>
          <a:p>
            <a:pPr marL="0" indent="0">
              <a:buNone/>
            </a:pPr>
            <a:endParaRPr lang="en-US"/>
          </a:p>
          <a:p>
            <a:r>
              <a:rPr lang="en-US" sz="2600">
                <a:ea typeface="+mn-lt"/>
                <a:cs typeface="+mn-lt"/>
              </a:rPr>
              <a:t>Root Mean Squared Error (RMSE): average magnitude of the errors between predicted and actual values.</a:t>
            </a:r>
            <a:endParaRPr lang="en-US">
              <a:ea typeface="+mn-lt"/>
              <a:cs typeface="+mn-lt"/>
            </a:endParaRPr>
          </a:p>
          <a:p>
            <a:r>
              <a:rPr lang="en-US">
                <a:ea typeface="+mn-lt"/>
                <a:cs typeface="+mn-lt"/>
              </a:rPr>
              <a:t>Mean Absolute Error (MAE): The average of the absolute differences between the predicted target and actual values. </a:t>
            </a:r>
            <a:endParaRPr lang="en-US"/>
          </a:p>
          <a:p>
            <a:r>
              <a:rPr lang="en-US">
                <a:ea typeface="+mn-lt"/>
                <a:cs typeface="+mn-lt"/>
              </a:rPr>
              <a:t>Mean Squared Error (MSE): The average of the squared differences between the actual and predicted values. </a:t>
            </a:r>
            <a:endParaRPr lang="en-US"/>
          </a:p>
          <a:p>
            <a:r>
              <a:rPr lang="en-US">
                <a:ea typeface="+mn-lt"/>
                <a:cs typeface="+mn-lt"/>
              </a:rPr>
              <a:t>R-squared (Coefficient of Determination): Represents the proportion of the variance in the dependent variable that is predictable from the independent variable(s). </a:t>
            </a:r>
          </a:p>
          <a:p>
            <a:r>
              <a:rPr lang="en-US">
                <a:ea typeface="+mn-lt"/>
                <a:cs typeface="+mn-lt"/>
              </a:rPr>
              <a:t>AIC (Akaike Information Criterion) &amp; BIC (Bayesian Information Criterion): Used to compare and select models, balancing model fit and simplicity to avoid overfitting. Lower values are preferred.</a:t>
            </a:r>
            <a:endParaRPr lang="en-US"/>
          </a:p>
        </p:txBody>
      </p:sp>
    </p:spTree>
    <p:extLst>
      <p:ext uri="{BB962C8B-B14F-4D97-AF65-F5344CB8AC3E}">
        <p14:creationId xmlns:p14="http://schemas.microsoft.com/office/powerpoint/2010/main" val="20317386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543D8-E6EE-3F4E-B115-93EEB2B98D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1F8AA8-11DD-A4BC-0382-331F5211FECB}"/>
              </a:ext>
            </a:extLst>
          </p:cNvPr>
          <p:cNvSpPr>
            <a:spLocks noGrp="1"/>
          </p:cNvSpPr>
          <p:nvPr>
            <p:ph type="title"/>
          </p:nvPr>
        </p:nvSpPr>
        <p:spPr/>
        <p:txBody>
          <a:bodyPr/>
          <a:lstStyle/>
          <a:p>
            <a:pPr algn="ctr">
              <a:spcBef>
                <a:spcPts val="1000"/>
              </a:spcBef>
            </a:pPr>
            <a:r>
              <a:rPr lang="en-US" sz="2800" b="1">
                <a:latin typeface="Aptos"/>
              </a:rPr>
              <a:t>Classification Metrics used for models that categorize data into predefined labels. </a:t>
            </a:r>
            <a:endParaRPr lang="en-US" sz="2800" b="1">
              <a:latin typeface="Aptos Display" panose="02110004020202020204"/>
            </a:endParaRPr>
          </a:p>
          <a:p>
            <a:endParaRPr lang="en-US"/>
          </a:p>
        </p:txBody>
      </p:sp>
      <p:sp>
        <p:nvSpPr>
          <p:cNvPr id="3" name="Content Placeholder 2">
            <a:extLst>
              <a:ext uri="{FF2B5EF4-FFF2-40B4-BE49-F238E27FC236}">
                <a16:creationId xmlns:a16="http://schemas.microsoft.com/office/drawing/2014/main" id="{0343994C-552B-4F69-6279-49F5008EC6B1}"/>
              </a:ext>
            </a:extLst>
          </p:cNvPr>
          <p:cNvSpPr>
            <a:spLocks noGrp="1"/>
          </p:cNvSpPr>
          <p:nvPr>
            <p:ph idx="1"/>
          </p:nvPr>
        </p:nvSpPr>
        <p:spPr/>
        <p:txBody>
          <a:bodyPr vert="horz" lIns="91440" tIns="45720" rIns="91440" bIns="45720" rtlCol="0" anchor="t">
            <a:normAutofit/>
          </a:bodyPr>
          <a:lstStyle/>
          <a:p>
            <a:r>
              <a:rPr lang="en-US">
                <a:ea typeface="+mn-lt"/>
                <a:cs typeface="+mn-lt"/>
              </a:rPr>
              <a:t>Accuracy: (TP + TN) / (TP + TN + FP + FN) </a:t>
            </a:r>
            <a:endParaRPr lang="en-US"/>
          </a:p>
          <a:p>
            <a:r>
              <a:rPr lang="en-US">
                <a:ea typeface="+mn-lt"/>
                <a:cs typeface="+mn-lt"/>
              </a:rPr>
              <a:t>ROC AUC: Visual trade-off between sensitivity and specificity.</a:t>
            </a:r>
            <a:endParaRPr lang="en-US"/>
          </a:p>
          <a:p>
            <a:r>
              <a:rPr lang="en-US">
                <a:ea typeface="+mn-lt"/>
                <a:cs typeface="+mn-lt"/>
              </a:rPr>
              <a:t>F1 Score (harmonic mean): 2 * (Precision * Recall) / (Precision + Recall)</a:t>
            </a:r>
          </a:p>
          <a:p>
            <a:r>
              <a:rPr lang="en-US">
                <a:ea typeface="+mn-lt"/>
                <a:cs typeface="+mn-lt"/>
              </a:rPr>
              <a:t>Precision: TP / (TP + FP)</a:t>
            </a:r>
          </a:p>
          <a:p>
            <a:r>
              <a:rPr lang="en-US">
                <a:ea typeface="+mn-lt"/>
                <a:cs typeface="+mn-lt"/>
              </a:rPr>
              <a:t>Recall (Sensitivity / True Positive rate): TP / (TP + FN) </a:t>
            </a:r>
            <a:endParaRPr lang="en-US"/>
          </a:p>
          <a:p>
            <a:r>
              <a:rPr lang="en-US">
                <a:ea typeface="+mn-lt"/>
                <a:cs typeface="+mn-lt"/>
              </a:rPr>
              <a:t>Specificity = TN / (TN + FP) </a:t>
            </a:r>
            <a:endParaRPr lang="en-US"/>
          </a:p>
        </p:txBody>
      </p:sp>
    </p:spTree>
    <p:extLst>
      <p:ext uri="{BB962C8B-B14F-4D97-AF65-F5344CB8AC3E}">
        <p14:creationId xmlns:p14="http://schemas.microsoft.com/office/powerpoint/2010/main" val="12365178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B5D3B-9C39-9B3E-8C5A-3B0541D8FEDA}"/>
              </a:ext>
            </a:extLst>
          </p:cNvPr>
          <p:cNvSpPr>
            <a:spLocks noGrp="1"/>
          </p:cNvSpPr>
          <p:nvPr>
            <p:ph type="title"/>
          </p:nvPr>
        </p:nvSpPr>
        <p:spPr/>
        <p:txBody>
          <a:bodyPr/>
          <a:lstStyle/>
          <a:p>
            <a:pPr algn="ctr">
              <a:spcBef>
                <a:spcPts val="1000"/>
              </a:spcBef>
            </a:pPr>
            <a:r>
              <a:rPr lang="en-US" sz="2800" b="1">
                <a:latin typeface="Aptos"/>
              </a:rPr>
              <a:t>Classification Metrics used for models that categorize data into predefined labels. </a:t>
            </a:r>
            <a:endParaRPr lang="en-US" sz="2800" b="1">
              <a:latin typeface="Aptos Display" panose="02110004020202020204"/>
            </a:endParaRPr>
          </a:p>
          <a:p>
            <a:endParaRPr lang="en-US"/>
          </a:p>
        </p:txBody>
      </p:sp>
      <p:sp>
        <p:nvSpPr>
          <p:cNvPr id="3" name="Content Placeholder 2">
            <a:extLst>
              <a:ext uri="{FF2B5EF4-FFF2-40B4-BE49-F238E27FC236}">
                <a16:creationId xmlns:a16="http://schemas.microsoft.com/office/drawing/2014/main" id="{12ADDA9F-D970-AE66-BA29-92DA438A5CC8}"/>
              </a:ext>
            </a:extLst>
          </p:cNvPr>
          <p:cNvSpPr>
            <a:spLocks noGrp="1"/>
          </p:cNvSpPr>
          <p:nvPr>
            <p:ph idx="1"/>
          </p:nvPr>
        </p:nvSpPr>
        <p:spPr/>
        <p:txBody>
          <a:bodyPr vert="horz" lIns="91440" tIns="45720" rIns="91440" bIns="45720" rtlCol="0" anchor="t">
            <a:normAutofit/>
          </a:bodyPr>
          <a:lstStyle/>
          <a:p>
            <a:r>
              <a:rPr lang="en-US">
                <a:ea typeface="+mn-lt"/>
                <a:cs typeface="+mn-lt"/>
              </a:rPr>
              <a:t>Accuracy: (TP + TN) / (TP + TN + FP + FN) </a:t>
            </a:r>
            <a:endParaRPr lang="en-US"/>
          </a:p>
          <a:p>
            <a:r>
              <a:rPr lang="en-US">
                <a:ea typeface="+mn-lt"/>
                <a:cs typeface="+mn-lt"/>
              </a:rPr>
              <a:t>ROC AUC:  the trade-off between sensitivity and specificity.</a:t>
            </a:r>
            <a:endParaRPr lang="en-US"/>
          </a:p>
          <a:p>
            <a:r>
              <a:rPr lang="en-US">
                <a:ea typeface="+mn-lt"/>
                <a:cs typeface="+mn-lt"/>
              </a:rPr>
              <a:t>F1 Score (harmonic mean): 2 * (Precision * Recall) / (Precision + Recall)</a:t>
            </a:r>
          </a:p>
          <a:p>
            <a:r>
              <a:rPr lang="en-US">
                <a:ea typeface="+mn-lt"/>
                <a:cs typeface="+mn-lt"/>
              </a:rPr>
              <a:t>Precision: TP / (TP + FP)</a:t>
            </a:r>
          </a:p>
          <a:p>
            <a:r>
              <a:rPr lang="en-US">
                <a:ea typeface="+mn-lt"/>
                <a:cs typeface="+mn-lt"/>
              </a:rPr>
              <a:t>Recall (Sensitivity / True Positive rate): TP / (TP + FN) </a:t>
            </a:r>
            <a:endParaRPr lang="en-US"/>
          </a:p>
          <a:p>
            <a:r>
              <a:rPr lang="en-US">
                <a:ea typeface="+mn-lt"/>
                <a:cs typeface="+mn-lt"/>
              </a:rPr>
              <a:t>Specificity = TN / (TN + FP) </a:t>
            </a:r>
            <a:endParaRPr lang="en-US"/>
          </a:p>
        </p:txBody>
      </p:sp>
    </p:spTree>
    <p:extLst>
      <p:ext uri="{BB962C8B-B14F-4D97-AF65-F5344CB8AC3E}">
        <p14:creationId xmlns:p14="http://schemas.microsoft.com/office/powerpoint/2010/main" val="935337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D70E97-29CA-AA92-9577-43164B357AA0}"/>
              </a:ext>
            </a:extLst>
          </p:cNvPr>
          <p:cNvSpPr>
            <a:spLocks noGrp="1"/>
          </p:cNvSpPr>
          <p:nvPr>
            <p:ph idx="1"/>
          </p:nvPr>
        </p:nvSpPr>
        <p:spPr>
          <a:xfrm>
            <a:off x="838200" y="809625"/>
            <a:ext cx="10515600" cy="5367338"/>
          </a:xfrm>
        </p:spPr>
        <p:txBody>
          <a:bodyPr vert="horz" lIns="91440" tIns="45720" rIns="91440" bIns="45720" rtlCol="0" anchor="ctr">
            <a:normAutofit/>
          </a:bodyPr>
          <a:lstStyle/>
          <a:p>
            <a:pPr marL="0" indent="0">
              <a:lnSpc>
                <a:spcPct val="100000"/>
              </a:lnSpc>
              <a:buNone/>
            </a:pPr>
            <a:r>
              <a:rPr lang="en-US" sz="2400" dirty="0">
                <a:latin typeface="Aptos Display"/>
              </a:rPr>
              <a:t>A high accuracy score doesn't guarantee a good model because it doesn't penalize mistakes on minority classes, which are often more critical. A model can achieve high accuracy by simply predicting the majority class for every instance, effectively failing its primary purpose if the minority class is the most important to detect. For example, a fraud detection model that predicts no fraud for every transaction would be 99% accurate on a dataset with 99% legitimate transactions but would be useless at its job, missing all real fraud cases. </a:t>
            </a:r>
            <a:br>
              <a:rPr lang="en-US" sz="2400" dirty="0">
                <a:latin typeface="Aptos Display"/>
              </a:rPr>
            </a:br>
            <a:endParaRPr lang="en-US" sz="2400" dirty="0">
              <a:latin typeface="Aptos Display"/>
            </a:endParaRPr>
          </a:p>
          <a:p>
            <a:endParaRPr lang="en-US" dirty="0"/>
          </a:p>
        </p:txBody>
      </p:sp>
    </p:spTree>
    <p:extLst>
      <p:ext uri="{BB962C8B-B14F-4D97-AF65-F5344CB8AC3E}">
        <p14:creationId xmlns:p14="http://schemas.microsoft.com/office/powerpoint/2010/main" val="33329866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2BDC3F-EF80-3D15-F6F8-5813DCB73B6D}"/>
              </a:ext>
            </a:extLst>
          </p:cNvPr>
          <p:cNvSpPr>
            <a:spLocks noGrp="1"/>
          </p:cNvSpPr>
          <p:nvPr>
            <p:ph idx="1"/>
          </p:nvPr>
        </p:nvSpPr>
        <p:spPr>
          <a:xfrm>
            <a:off x="838200" y="593878"/>
            <a:ext cx="10515600" cy="5583084"/>
          </a:xfrm>
        </p:spPr>
        <p:txBody>
          <a:bodyPr vert="horz" lIns="91440" tIns="45720" rIns="91440" bIns="45720" rtlCol="0" anchor="t">
            <a:normAutofit fontScale="92500" lnSpcReduction="20000"/>
          </a:bodyPr>
          <a:lstStyle/>
          <a:p>
            <a:pPr marL="0" indent="0">
              <a:buNone/>
            </a:pPr>
            <a:r>
              <a:rPr lang="en-US" dirty="0"/>
              <a:t>Why Accuracy Can Be Misleading</a:t>
            </a:r>
            <a:endParaRPr lang="en-US"/>
          </a:p>
          <a:p>
            <a:r>
              <a:rPr lang="en-US" b="1" dirty="0">
                <a:hlinkClick r:id="rId2"/>
              </a:rPr>
              <a:t>Majority Class Bias:</a:t>
            </a:r>
            <a:r>
              <a:rPr lang="en-US" dirty="0">
                <a:hlinkClick r:id="rId2"/>
              </a:rPr>
              <a:t> </a:t>
            </a:r>
          </a:p>
          <a:p>
            <a:pPr fontAlgn="ctr"/>
            <a:r>
              <a:rPr lang="en-US" dirty="0"/>
              <a:t>In a classification task, a model can achieve high accuracy by always predicting the majority class, especially when dealing with unbalanced datasets. </a:t>
            </a:r>
          </a:p>
          <a:p>
            <a:r>
              <a:rPr lang="en-US" b="1" dirty="0">
                <a:hlinkClick r:id="rId3"/>
              </a:rPr>
              <a:t>Masks Minority Class Failures:</a:t>
            </a:r>
            <a:r>
              <a:rPr lang="en-US" dirty="0">
                <a:hlinkClick r:id="rId3"/>
              </a:rPr>
              <a:t> </a:t>
            </a:r>
          </a:p>
          <a:p>
            <a:pPr fontAlgn="ctr"/>
            <a:r>
              <a:rPr lang="en-US" dirty="0"/>
              <a:t>Accuracy counts all correct predictions equally. If a model makes a critical error in predicting a rare, important class (a false negative), this error might be hidden by the large number of correct predictions for the common class. </a:t>
            </a:r>
          </a:p>
          <a:p>
            <a:r>
              <a:rPr lang="en-US" b="1" dirty="0">
                <a:hlinkClick r:id="rId4"/>
              </a:rPr>
              <a:t>Application-Dependent Importance:</a:t>
            </a:r>
            <a:r>
              <a:rPr lang="en-US" dirty="0">
                <a:hlinkClick r:id="rId4"/>
              </a:rPr>
              <a:t> </a:t>
            </a:r>
          </a:p>
          <a:p>
            <a:r>
              <a:rPr lang="en-US" dirty="0"/>
              <a:t>The real goal of a model is to achieve specific outcomes, not just high overall accuracy. For example, in medical diagnosis or fraud detection, correctly identifying a rare but critical case is far more important than correctly labeling many common, less important cases. </a:t>
            </a:r>
          </a:p>
          <a:p>
            <a:endParaRPr lang="en-US" dirty="0"/>
          </a:p>
        </p:txBody>
      </p:sp>
    </p:spTree>
    <p:extLst>
      <p:ext uri="{BB962C8B-B14F-4D97-AF65-F5344CB8AC3E}">
        <p14:creationId xmlns:p14="http://schemas.microsoft.com/office/powerpoint/2010/main" val="10089399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8</Slides>
  <Notes>0</Notes>
  <HiddenSlides>0</HiddenSlide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Best Practice in Evaluation of Data Science model</vt:lpstr>
      <vt:lpstr>How to choose Evaluation metrics: is your model is good ?</vt:lpstr>
      <vt:lpstr>Regression Metrics used for models of continuous value</vt:lpstr>
      <vt:lpstr>Regression Metrics used for models of continuous value</vt:lpstr>
      <vt:lpstr>Classification Metrics used for models that categorize data into predefined labels.  </vt:lpstr>
      <vt:lpstr>Classification Metrics used for models that categorize data into predefined labels.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Irina Max</dc:creator>
  <cp:revision>40</cp:revision>
  <dcterms:created xsi:type="dcterms:W3CDTF">2025-09-21T00:56:34Z</dcterms:created>
  <dcterms:modified xsi:type="dcterms:W3CDTF">2025-11-20T17:57:16Z</dcterms:modified>
</cp:coreProperties>
</file>